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5B4FC"/>
                </a:solidFill>
                <a:latin typeface="Segoe UI"/>
              </a:defRPr>
            </a:pPr>
            <a:r>
              <a:t>KIET DEEMED TO BE UNIVERSITY</a:t>
            </a:r>
          </a:p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DEPARTMENT OF COMPUTER APPLICATIONS | DELHI-NCR, GHAZIABAD - 201206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280160"/>
            <a:ext cx="10362895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9966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9E0B"/>
                </a:solidFill>
                <a:latin typeface="Segoe UI"/>
              </a:defRPr>
            </a:pPr>
            <a:r>
              <a:t>SYNOPSIS PRESENTATION (SESSION: 2026-2027 | I SEMESTER)</a:t>
            </a:r>
          </a:p>
          <a:p>
            <a:pPr algn="ctr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LUMINA: ALL-IN-ONE STUDY &amp; DEEP WORK OS</a:t>
            </a:r>
          </a:p>
          <a:p>
            <a:pPr algn="ctr">
              <a:defRPr sz="1200">
                <a:solidFill>
                  <a:srgbClr val="A5B4FC"/>
                </a:solidFill>
                <a:latin typeface="Segoe UI"/>
              </a:defRPr>
            </a:pPr>
            <a:r>
              <a:t>Subject Pomodoro • Minimalist Peer Study Rooms • Hierarchical Notes &amp; SuperMemo SM-2 SRS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20440"/>
            <a:ext cx="5029200" cy="2834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11880"/>
            <a:ext cx="46634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  <a:latin typeface="Segoe UI"/>
              </a:defRPr>
            </a:pPr>
            <a:r>
              <a:t>PRESENTED BY (STUDENT TEAM):</a:t>
            </a:r>
          </a:p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• 1. &lt;&lt;Name of Student-1&gt;&gt;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   &lt;&lt;email1@kiet.edu&gt;&gt; | Roll No: &lt;&lt;Roll-1&gt;&gt;</a:t>
            </a:r>
          </a:p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• 2. &lt;&lt;Name of Student-2&gt;&gt;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   &lt;&lt;email2@kiet.edu&gt;&gt; | Roll No: &lt;&lt;Roll-2&gt;&gt;</a:t>
            </a:r>
          </a:p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• 3. &lt;&lt;Name of Student-3&gt;&gt;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   &lt;&lt;email3@kiet.edu&gt;&gt; | Roll No: &lt;&lt;Roll-3&gt;&gt;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3520440"/>
            <a:ext cx="5029200" cy="2834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30975" y="3611880"/>
            <a:ext cx="46634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UNDER THE SUPERVISION OF:</a:t>
            </a:r>
          </a:p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• (Dr.) / Ms. / Mr. &lt;&lt;Supervisor Name&gt;&gt;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   &lt;&lt;Designation&gt;&gt;, Department of Computer Applications</a:t>
            </a:r>
          </a:p>
          <a:p>
            <a:br/>
            <a:pPr>
              <a:defRPr sz="1100" b="1">
                <a:solidFill>
                  <a:srgbClr val="CBD5E1"/>
                </a:solidFill>
                <a:latin typeface="Segoe UI"/>
              </a:defRPr>
            </a:pPr>
            <a:r>
              <a:t>Academic Session: 2026-2027 (I Semester)</a:t>
            </a:r>
          </a:p>
          <a:p>
            <a:pPr>
              <a:defRPr sz="1000">
                <a:solidFill>
                  <a:srgbClr val="F59E0B"/>
                </a:solidFill>
                <a:latin typeface="Segoe UI"/>
              </a:defRPr>
            </a:pPr>
            <a:r>
              <a:t>Date of Presentation: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"/>
            <a:ext cx="10698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2. Project Overview &amp; Problem Statement</a:t>
            </a:r>
          </a:p>
          <a:p>
            <a:pPr>
              <a:defRPr sz="1100">
                <a:solidFill>
                  <a:srgbClr val="A5B4FC"/>
                </a:solidFill>
                <a:latin typeface="Segoe UI"/>
              </a:defRPr>
            </a:pPr>
            <a:r>
              <a:t>Context, Problem Definition, and Proposed Solution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120640" cy="5120640"/>
          </a:xfrm>
          <a:prstGeom prst="roundRect">
            <a:avLst/>
          </a:prstGeom>
          <a:solidFill>
            <a:srgbClr val="231419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47548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B7185"/>
                </a:solidFill>
                <a:latin typeface="Segoe UI"/>
              </a:defRPr>
            </a:pPr>
            <a:r>
              <a:t>❌ THE PROBLEM: Study Fragmentation</a:t>
            </a:r>
          </a:p>
          <a:p>
            <a:pPr>
              <a:defRPr sz="1050">
                <a:solidFill>
                  <a:srgbClr val="CBD5E1"/>
                </a:solidFill>
                <a:latin typeface="Segoe UI"/>
              </a:defRPr>
            </a:pPr>
            <a:r>
              <a:t>• Multi-App Chaos: Students constantly switch across 5+ disconnected tabs (timers on one site, Lo-Fi on YouTube, notes in Docs, Anki for flashcards), causing cognitive fatigue.</a:t>
            </a:r>
          </a:p>
          <a:p>
            <a:pPr>
              <a:defRPr sz="1050">
                <a:solidFill>
                  <a:srgbClr val="CBD5E1"/>
                </a:solidFill>
                <a:latin typeface="Segoe UI"/>
              </a:defRPr>
            </a:pPr>
            <a:r>
              <a:t>• Video Stream Anxiety: Traditional video study rooms create camera anxiety, background noise, and battery drain rather than real focus.</a:t>
            </a:r>
          </a:p>
          <a:p>
            <a:pPr>
              <a:defRPr sz="1050">
                <a:solidFill>
                  <a:srgbClr val="CBD5E1"/>
                </a:solidFill>
                <a:latin typeface="Segoe UI"/>
              </a:defRPr>
            </a:pPr>
            <a:r>
              <a:t>• Ebbinghaus Forgetting Curve: Over 75% of lecture content is forgotten within 48 hours without scheduled active recall and spaced review.</a:t>
            </a:r>
          </a:p>
          <a:p>
            <a:pPr>
              <a:defRPr sz="1050">
                <a:solidFill>
                  <a:srgbClr val="CBD5E1"/>
                </a:solidFill>
                <a:latin typeface="Segoe UI"/>
              </a:defRPr>
            </a:pPr>
            <a:r>
              <a:t>• Unstructured Effort: Generic timers don't allocate time to specific course subjects or track weekly syllabus completion goals.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80160"/>
            <a:ext cx="5120640" cy="5120640"/>
          </a:xfrm>
          <a:prstGeom prst="roundRect">
            <a:avLst/>
          </a:prstGeom>
          <a:solidFill>
            <a:srgbClr val="0F231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17320"/>
            <a:ext cx="47548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✓ THE SOLUTION: Lumina Study OS</a:t>
            </a:r>
          </a:p>
          <a:p>
            <a:pPr>
              <a:defRPr sz="1050">
                <a:solidFill>
                  <a:srgbClr val="CBD5E1"/>
                </a:solidFill>
                <a:latin typeface="Segoe UI"/>
              </a:defRPr>
            </a:pPr>
            <a:r>
              <a:t>• Unified Study Ecosystem: Combines subject-specific Pomodoro timers, Lo-Fi audio, hierarchical notes, and spaced repetition in one web app.</a:t>
            </a:r>
          </a:p>
          <a:p>
            <a:pPr>
              <a:defRPr sz="1050">
                <a:solidFill>
                  <a:srgbClr val="CBD5E1"/>
                </a:solidFill>
                <a:latin typeface="Segoe UI"/>
              </a:defRPr>
            </a:pPr>
            <a:r>
              <a:t>• Camera-Free Peer Rooms: Synchronized focus timers, active subject tags, country flags, and live chat for genuine peer accountability without video clutter.</a:t>
            </a:r>
          </a:p>
          <a:p>
            <a:pPr>
              <a:defRPr sz="1050">
                <a:solidFill>
                  <a:srgbClr val="CBD5E1"/>
                </a:solidFill>
                <a:latin typeface="Segoe UI"/>
              </a:defRPr>
            </a:pPr>
            <a:r>
              <a:t>• SuperMemo SM-2 Algorithm: Scientifically scheduled active recall flashcard reviews with automated email reminders before memory decay occurs.</a:t>
            </a:r>
          </a:p>
          <a:p>
            <a:pPr>
              <a:defRPr sz="1050">
                <a:solidFill>
                  <a:srgbClr val="CBD5E1"/>
                </a:solidFill>
                <a:latin typeface="Segoe UI"/>
              </a:defRPr>
            </a:pPr>
            <a:r>
              <a:t>• Local-First &amp; Offline Privacy: Notes, flashcards, and study metrics persist privately in the browser's localStorage &amp; IndexedDB with zero latency.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"/>
            <a:ext cx="10698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3. Project Objectives</a:t>
            </a:r>
          </a:p>
          <a:p>
            <a:pPr>
              <a:defRPr sz="1100">
                <a:solidFill>
                  <a:srgbClr val="A5B4FC"/>
                </a:solidFill>
                <a:latin typeface="Segoe UI"/>
              </a:defRPr>
            </a:pPr>
            <a:r>
              <a:t>Key Measurable Goals and Success Criteria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21208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366F1"/>
                </a:solidFill>
                <a:latin typeface="Segoe UI"/>
              </a:defRPr>
            </a:pPr>
            <a:r>
              <a:t>1. Single Unified Study Hub</a:t>
            </a:r>
          </a:p>
          <a:p>
            <a:pPr>
              <a:defRPr sz="1050">
                <a:solidFill>
                  <a:srgbClr val="CBD5E1"/>
                </a:solidFill>
                <a:latin typeface="Segoe UI"/>
              </a:defRPr>
            </a:pPr>
            <a:r>
              <a:t>Eliminate multi-tab context switching by integrating focus timers, note taking, ambient audio, and flashcards into one lightweight responsive interface.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25880"/>
            <a:ext cx="521208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46304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  <a:latin typeface="Segoe UI"/>
              </a:defRPr>
            </a:pPr>
            <a:r>
              <a:t>2. Subject-Centric Focus Tracking</a:t>
            </a:r>
          </a:p>
          <a:p>
            <a:pPr>
              <a:defRPr sz="1050">
                <a:solidFill>
                  <a:srgbClr val="CBD5E1"/>
                </a:solidFill>
                <a:latin typeface="Segoe UI"/>
              </a:defRPr>
            </a:pPr>
            <a:r>
              <a:t>Allow students to allocate study time to defined course subjects (e.g. Distributed Systems, ML) with weekly hour targets and streak metrics.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21208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4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3. Minimalist Peer Accountability</a:t>
            </a:r>
          </a:p>
          <a:p>
            <a:pPr>
              <a:defRPr sz="1050">
                <a:solidFill>
                  <a:srgbClr val="CBD5E1"/>
                </a:solidFill>
                <a:latin typeface="Segoe UI"/>
              </a:defRPr>
            </a:pPr>
            <a:r>
              <a:t>Develop virtual study rooms with synchronized countdowns, live peer presence, and ambient soundscapes without high-bandwidth video cameras.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840480"/>
            <a:ext cx="521208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397764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Segoe UI"/>
              </a:defRPr>
            </a:pPr>
            <a:r>
              <a:t>4. Scientific Memory Retention (SM-2 SRS)</a:t>
            </a:r>
          </a:p>
          <a:p>
            <a:pPr>
              <a:defRPr sz="1050">
                <a:solidFill>
                  <a:srgbClr val="CBD5E1"/>
                </a:solidFill>
                <a:latin typeface="Segoe UI"/>
              </a:defRPr>
            </a:pPr>
            <a:r>
              <a:t>Implement SuperMemo SM-2 spaced repetition scheduling to calculate optimal recall intervals (1d, 6d, Iₙ₋₁×EF) and trigger daily email reminders.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"/>
            <a:ext cx="10698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4. Project Scope &amp; Functional Modules</a:t>
            </a:r>
          </a:p>
          <a:p>
            <a:pPr>
              <a:defRPr sz="1100">
                <a:solidFill>
                  <a:srgbClr val="A5B4FC"/>
                </a:solidFill>
                <a:latin typeface="Segoe UI"/>
              </a:defRPr>
            </a:pPr>
            <a:r>
              <a:t>System Boundaries, Core Modules and Feature Specifications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6949440" cy="5120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6583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5B4FC"/>
                </a:solidFill>
                <a:latin typeface="Segoe UI"/>
              </a:defRPr>
            </a:pPr>
            <a:r>
              <a:t>CORE FUNCTIONAL MODULES (IN-SCOPE)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• Module 1: Subject Focus Engine: Pomodoro timer with subject tagging, weekly targets, break auto-start, and Zen chimes.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• Module 2: Minimalist Study Rooms: Camera-free peer presence, live countdown sync, country flags, chat, and Lo-Fi lounge.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• Module 3: Structured Notes &amp; Vault: Hierarchical markdown notes, split preview, formula rendering, and 500MB local vault.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• Module 4: Spaced Repetition (SM-2): Active recall flashcard scheduling, AI batch card generator, and automated email reminders.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• Module 5: Profile &amp; Local Auth: Persistent multi-account management in localStorage with demo 1-click profiles.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280160"/>
            <a:ext cx="3474720" cy="5120640"/>
          </a:xfrm>
          <a:prstGeom prst="roundRect">
            <a:avLst/>
          </a:prstGeom>
          <a:solidFill>
            <a:srgbClr val="1E192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371600"/>
            <a:ext cx="3108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Segoe UI"/>
              </a:defRPr>
            </a:pPr>
            <a:r>
              <a:t>PROJECT BOUNDARIES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• No Video Streaming: Intentionally avoids camera feeds to minimize bandwidth and eliminate camera anxiety.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• No Mandatory Cloud: Designed as an offline-first client architecture with optional cloud storage.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• No Paywalls: Built as a student-focused open-source academic tool.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• Target Users: Higher-ed students, competitive exam aspirants &amp; lifelong learners.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"/>
            <a:ext cx="10698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5. Software Development Methodology</a:t>
            </a:r>
          </a:p>
          <a:p>
            <a:pPr>
              <a:defRPr sz="1100">
                <a:solidFill>
                  <a:srgbClr val="A5B4FC"/>
                </a:solidFill>
                <a:latin typeface="Segoe UI"/>
              </a:defRPr>
            </a:pPr>
            <a:r>
              <a:t>Agile Framework, System Architecture and Technology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120640" cy="5120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7548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  <a:latin typeface="Segoe UI"/>
              </a:defRPr>
            </a:pPr>
            <a:r>
              <a:t>AGILE SCRUM METHODOLOGY</a:t>
            </a:r>
          </a:p>
          <a:p>
            <a:pPr>
              <a:defRPr sz="1050">
                <a:solidFill>
                  <a:srgbClr val="CBD5E1"/>
                </a:solidFill>
                <a:latin typeface="Segoe UI"/>
              </a:defRPr>
            </a:pPr>
            <a:r>
              <a:t>• Iterative Sprints: 2-week sprint cycles for feature development, testing, and continuous feedback.</a:t>
            </a:r>
          </a:p>
          <a:p>
            <a:pPr>
              <a:defRPr sz="1050">
                <a:solidFill>
                  <a:srgbClr val="CBD5E1"/>
                </a:solidFill>
                <a:latin typeface="Segoe UI"/>
              </a:defRPr>
            </a:pPr>
            <a:r>
              <a:t>• Component-Driven Architecture: Modular React components ensuring separation of concerns and high reusability.</a:t>
            </a:r>
          </a:p>
          <a:p>
            <a:pPr>
              <a:defRPr sz="1050">
                <a:solidFill>
                  <a:srgbClr val="CBD5E1"/>
                </a:solidFill>
                <a:latin typeface="Segoe UI"/>
              </a:defRPr>
            </a:pPr>
            <a:r>
              <a:t>• Continuous Verification: Rigorous type-checking with TypeScript and build validation with Vite.</a:t>
            </a:r>
          </a:p>
          <a:p>
            <a:pPr>
              <a:defRPr sz="1050">
                <a:solidFill>
                  <a:srgbClr val="CBD5E1"/>
                </a:solidFill>
                <a:latin typeface="Segoe UI"/>
              </a:defRPr>
            </a:pPr>
            <a:r>
              <a:t>• User-Centered Design: Focus on low cognitive load, dark mode ergonomics, and glassmorphic micro-animations.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80160"/>
            <a:ext cx="5120640" cy="5120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7548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5B4FC"/>
                </a:solidFill>
                <a:latin typeface="Segoe UI"/>
              </a:defRPr>
            </a:pPr>
            <a:r>
              <a:t>TECHNOLOGY STACK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• Frontend Framework: React 19 with TypeScript for robust type-safe UI architecture.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• Build Tool &amp; Bundler: Vite 8.x for lightning-fast HMR and optimized production bundles.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• Styling &amp; Design System: Tailwind CSS + Glassmorphism UI tokens + Lucide React Icons.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• Audio Synthesis: Web Audio API for generative Zen bells, binaural frequencies &amp; Lo-Fi player.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• Algorithms: SuperMemo SM-2 Spaced Repetition Formula.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• Data Persistence: Browser LocalStorage + IndexedDB for 500MB document storage.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"/>
            <a:ext cx="10698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6. Hardware and Software Requirements</a:t>
            </a:r>
          </a:p>
          <a:p>
            <a:pPr>
              <a:defRPr sz="1100">
                <a:solidFill>
                  <a:srgbClr val="A5B4FC"/>
                </a:solidFill>
                <a:latin typeface="Segoe UI"/>
              </a:defRPr>
            </a:pPr>
            <a:r>
              <a:t>System Specifications and Deployment Environment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120640" cy="5120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7548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5B4FC"/>
                </a:solidFill>
                <a:latin typeface="Segoe UI"/>
              </a:defRPr>
            </a:pPr>
            <a:r>
              <a:t>💻 SOFTWARE REQUIREMENTS</a:t>
            </a:r>
          </a:p>
          <a:p>
            <a:pPr>
              <a:defRPr sz="1050">
                <a:solidFill>
                  <a:srgbClr val="CBD5E1"/>
                </a:solidFill>
                <a:latin typeface="Segoe UI"/>
              </a:defRPr>
            </a:pPr>
            <a:r>
              <a:t>• Operating System: Windows 10/11, macOS, or Ubuntu Linux (64-bit).</a:t>
            </a:r>
          </a:p>
          <a:p>
            <a:pPr>
              <a:defRPr sz="1050">
                <a:solidFill>
                  <a:srgbClr val="CBD5E1"/>
                </a:solidFill>
                <a:latin typeface="Segoe UI"/>
              </a:defRPr>
            </a:pPr>
            <a:r>
              <a:t>• Runtime Environment: Node.js v18.0 or higher with npm package manager.</a:t>
            </a:r>
          </a:p>
          <a:p>
            <a:pPr>
              <a:defRPr sz="1050">
                <a:solidFill>
                  <a:srgbClr val="CBD5E1"/>
                </a:solidFill>
                <a:latin typeface="Segoe UI"/>
              </a:defRPr>
            </a:pPr>
            <a:r>
              <a:t>• Web Browser: Google Chrome 100+, Microsoft Edge, Mozilla Firefox, or Safari (with Web Audio support).</a:t>
            </a:r>
          </a:p>
          <a:p>
            <a:pPr>
              <a:defRPr sz="1050">
                <a:solidFill>
                  <a:srgbClr val="CBD5E1"/>
                </a:solidFill>
                <a:latin typeface="Segoe UI"/>
              </a:defRPr>
            </a:pPr>
            <a:r>
              <a:t>• Development Tools: Visual Studio Code, Git, Vite Dev Server.</a:t>
            </a:r>
          </a:p>
          <a:p>
            <a:pPr>
              <a:defRPr sz="1050">
                <a:solidFill>
                  <a:srgbClr val="CBD5E1"/>
                </a:solidFill>
                <a:latin typeface="Segoe UI"/>
              </a:defRPr>
            </a:pPr>
            <a:r>
              <a:t>• TypeScript Compiler: TypeScript 5.x for static code analysis.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80160"/>
            <a:ext cx="5120640" cy="5120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7548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⚙️ HARDWARE REQUIREMENTS</a:t>
            </a:r>
          </a:p>
          <a:p>
            <a:pPr>
              <a:defRPr sz="1050">
                <a:solidFill>
                  <a:srgbClr val="CBD5E1"/>
                </a:solidFill>
                <a:latin typeface="Segoe UI"/>
              </a:defRPr>
            </a:pPr>
            <a:r>
              <a:t>• Processor (CPU): Intel Core i3 / AMD Ryzen 3 or higher (Dual-Core 2.0 GHz+).</a:t>
            </a:r>
          </a:p>
          <a:p>
            <a:pPr>
              <a:defRPr sz="1050">
                <a:solidFill>
                  <a:srgbClr val="CBD5E1"/>
                </a:solidFill>
                <a:latin typeface="Segoe UI"/>
              </a:defRPr>
            </a:pPr>
            <a:r>
              <a:t>• System Memory (RAM): 4 GB RAM minimum (8 GB RAM recommended for multi-tasking).</a:t>
            </a:r>
          </a:p>
          <a:p>
            <a:pPr>
              <a:defRPr sz="1050">
                <a:solidFill>
                  <a:srgbClr val="CBD5E1"/>
                </a:solidFill>
                <a:latin typeface="Segoe UI"/>
              </a:defRPr>
            </a:pPr>
            <a:r>
              <a:t>• Disk Storage: 500 MB free hard disk space for code, local storage &amp; cache.</a:t>
            </a:r>
          </a:p>
          <a:p>
            <a:pPr>
              <a:defRPr sz="1050">
                <a:solidFill>
                  <a:srgbClr val="CBD5E1"/>
                </a:solidFill>
                <a:latin typeface="Segoe UI"/>
              </a:defRPr>
            </a:pPr>
            <a:r>
              <a:t>• Display Resolution: 1280 × 720 minimum (1920 × 1080 Full HD recommended).</a:t>
            </a:r>
          </a:p>
          <a:p>
            <a:pPr>
              <a:defRPr sz="1050">
                <a:solidFill>
                  <a:srgbClr val="CBD5E1"/>
                </a:solidFill>
                <a:latin typeface="Segoe UI"/>
              </a:defRPr>
            </a:pPr>
            <a:r>
              <a:t>• Peripherals: Keyboard, mouse/trackpad, headphones/speakers for Lo-Fi audio.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"/>
            <a:ext cx="10698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7. Project Timeline &amp; Milestone Schedule</a:t>
            </a:r>
          </a:p>
          <a:p>
            <a:pPr>
              <a:defRPr sz="1100">
                <a:solidFill>
                  <a:srgbClr val="A5B4FC"/>
                </a:solidFill>
                <a:latin typeface="Segoe UI"/>
              </a:defRPr>
            </a:pPr>
            <a:r>
              <a:t>Gantt Breakdown Across 16 Weeks of Development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212080" cy="1508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49377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6366F1"/>
                </a:solidFill>
                <a:latin typeface="Segoe UI"/>
              </a:defRPr>
            </a:pPr>
            <a:r>
              <a:t>Phase 1: Analysis &amp; Requirements [Weeks 1 - 2]</a:t>
            </a:r>
          </a:p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Literature review, problem identification, SRS documentation &amp; synopsis approval.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25880"/>
            <a:ext cx="5212080" cy="1508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417320"/>
            <a:ext cx="49377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6B6D4"/>
                </a:solidFill>
                <a:latin typeface="Segoe UI"/>
              </a:defRPr>
            </a:pPr>
            <a:r>
              <a:t>Phase 2: UI Wireframes &amp; Focus Engine [Weeks 3 - 5]</a:t>
            </a:r>
          </a:p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Design system, Subject-based Pomodoro timer, audio chimes &amp; ambient player.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71800"/>
            <a:ext cx="5212080" cy="1508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063240"/>
            <a:ext cx="49377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0B981"/>
                </a:solidFill>
                <a:latin typeface="Segoe UI"/>
              </a:defRPr>
            </a:pPr>
            <a:r>
              <a:t>Phase 3: Minimalist Study Rooms [Weeks 6 - 8]</a:t>
            </a:r>
          </a:p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Collaborative room architecture, countdown synchronization &amp; group chatting.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971800"/>
            <a:ext cx="5212080" cy="1508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3063240"/>
            <a:ext cx="49377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59E0B"/>
                </a:solidFill>
                <a:latin typeface="Segoe UI"/>
              </a:defRPr>
            </a:pPr>
            <a:r>
              <a:t>Phase 4: Notes &amp; Spaced Repetition (SM-2) [Weeks 9 - 11]</a:t>
            </a:r>
          </a:p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Markdown editor, PDF local vault, flashcard extraction &amp; SM-2 scheduling.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617720"/>
            <a:ext cx="5212080" cy="1508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709160"/>
            <a:ext cx="49377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A5B4FC"/>
                </a:solidFill>
                <a:latin typeface="Segoe UI"/>
              </a:defRPr>
            </a:pPr>
            <a:r>
              <a:t>Phase 5: Local Auth &amp; Analytics [Weeks 12 - 13]</a:t>
            </a:r>
          </a:p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Multi-profile authentication, localStorage persistence &amp; study analytics dashboard.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4617720"/>
            <a:ext cx="5212080" cy="1508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4709160"/>
            <a:ext cx="49377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0B981"/>
                </a:solidFill>
                <a:latin typeface="Segoe UI"/>
              </a:defRPr>
            </a:pPr>
            <a:r>
              <a:t>Phase 6: Testing, Optimization &amp; Demo [Weeks 14 - 16]</a:t>
            </a:r>
          </a:p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Cross-browser testing, performance optimization, documentation &amp; final presentation.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"/>
            <a:ext cx="10698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8. Expected Project Outcomes &amp; Deliverables</a:t>
            </a:r>
          </a:p>
          <a:p>
            <a:pPr>
              <a:defRPr sz="1100">
                <a:solidFill>
                  <a:srgbClr val="A5B4FC"/>
                </a:solidFill>
                <a:latin typeface="Segoe UI"/>
              </a:defRPr>
            </a:pPr>
            <a:r>
              <a:t>Target Results, Research Output and Academic Deliverables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21208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366F1"/>
                </a:solidFill>
                <a:latin typeface="Segoe UI"/>
              </a:defRPr>
            </a:pPr>
            <a:r>
              <a:t>🚀 Production Web Application</a:t>
            </a:r>
          </a:p>
          <a:p>
            <a:pPr>
              <a:defRPr sz="1050">
                <a:solidFill>
                  <a:srgbClr val="CBD5E1"/>
                </a:solidFill>
                <a:latin typeface="Segoe UI"/>
              </a:defRPr>
            </a:pPr>
            <a:r>
              <a:t>A fully responsive, offline-first study operating system deployed on modern web infrastructure for direct student use.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25880"/>
            <a:ext cx="521208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46304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  <a:latin typeface="Segoe UI"/>
              </a:defRPr>
            </a:pPr>
            <a:r>
              <a:t>📄 Research Paper Publication</a:t>
            </a:r>
          </a:p>
          <a:p>
            <a:pPr>
              <a:defRPr sz="1050">
                <a:solidFill>
                  <a:srgbClr val="CBD5E1"/>
                </a:solidFill>
                <a:latin typeface="Segoe UI"/>
              </a:defRPr>
            </a:pPr>
            <a:r>
              <a:t>Manuscript on 'Enhancing Cognitive Retention in Remote Learning using SM-2 Spaced Repetition and Minimalist Study Environments' targeted for UGC/Scopus indexed journal.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21208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4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📑 Complete Project Documentation</a:t>
            </a:r>
          </a:p>
          <a:p>
            <a:pPr>
              <a:defRPr sz="1050">
                <a:solidFill>
                  <a:srgbClr val="CBD5E1"/>
                </a:solidFill>
                <a:latin typeface="Segoe UI"/>
              </a:defRPr>
            </a:pPr>
            <a:r>
              <a:t>Comprehensive Software Requirements Specification (SRS), System Design Document, Test Reports, and User Manual.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840480"/>
            <a:ext cx="521208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397764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Segoe UI"/>
              </a:defRPr>
            </a:pPr>
            <a:r>
              <a:t>💡 Intellectual Property / Patent Filing</a:t>
            </a:r>
          </a:p>
          <a:p>
            <a:pPr>
              <a:defRPr sz="1050">
                <a:solidFill>
                  <a:srgbClr val="CBD5E1"/>
                </a:solidFill>
                <a:latin typeface="Segoe UI"/>
              </a:defRPr>
            </a:pPr>
            <a:r>
              <a:t>Exploration of software architecture patent or copyright registration for the unified multi-subject spaced recall workflow.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371600"/>
            <a:ext cx="8869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9E0B"/>
                </a:solidFill>
                <a:latin typeface="Segoe UI"/>
              </a:defRPr>
            </a:pPr>
            <a:r>
              <a:t>CONCLUSION &amp; EXPECTED IMPACT</a:t>
            </a:r>
          </a:p>
          <a:p>
            <a:pPr algn="ctr">
              <a:defRPr sz="1200">
                <a:solidFill>
                  <a:srgbClr val="CBD5E1"/>
                </a:solidFill>
                <a:latin typeface="Segoe UI"/>
              </a:defRPr>
            </a:pPr>
            <a:r>
              <a:t>Lumina Study OS redefines student digital focus by merging deep work timers, low-anxiety peer environments, and scientifically validated spaced repetition algorithms into a single friction-free workspace.</a:t>
            </a:r>
            <a:br/>
          </a:p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THANK YOU!</a:t>
            </a:r>
          </a:p>
          <a:p>
            <a:pPr algn="ctr">
              <a:defRPr sz="1300">
                <a:solidFill>
                  <a:srgbClr val="A5B4FC"/>
                </a:solidFill>
                <a:latin typeface="Segoe UI"/>
              </a:defRPr>
            </a:pPr>
            <a:r>
              <a:t>Questions, Feedback &amp; Suggestions are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